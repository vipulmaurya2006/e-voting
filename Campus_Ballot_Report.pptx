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7"/>
  </p:notesMasterIdLst>
  <p:sldIdLst>
    <p:sldId id="256" r:id="rId2"/>
    <p:sldId id="257" r:id="rId3"/>
    <p:sldId id="258" r:id="rId4"/>
    <p:sldId id="323" r:id="rId5"/>
    <p:sldId id="260" r:id="rId6"/>
    <p:sldId id="261" r:id="rId7"/>
    <p:sldId id="262" r:id="rId8"/>
    <p:sldId id="263" r:id="rId9"/>
    <p:sldId id="264" r:id="rId10"/>
    <p:sldId id="265" r:id="rId11"/>
    <p:sldId id="266" r:id="rId12"/>
    <p:sldId id="267" r:id="rId13"/>
    <p:sldId id="268" r:id="rId14"/>
    <p:sldId id="269" r:id="rId15"/>
    <p:sldId id="270" r:id="rId16"/>
    <p:sldId id="273" r:id="rId17"/>
    <p:sldId id="315" r:id="rId18"/>
    <p:sldId id="316" r:id="rId19"/>
    <p:sldId id="317" r:id="rId20"/>
    <p:sldId id="318" r:id="rId21"/>
    <p:sldId id="319" r:id="rId22"/>
    <p:sldId id="320" r:id="rId23"/>
    <p:sldId id="321" r:id="rId24"/>
    <p:sldId id="322" r:id="rId25"/>
    <p:sldId id="314"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890E6A-B5D0-43A2-B714-97B6FDD3BCF5}">
  <a:tblStyle styleId="{DC890E6A-B5D0-43A2-B714-97B6FDD3BCF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8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4794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dcb651f1b1_1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g3dcb651f1b1_1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dcb651f1b1_1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dcb651f1b1_1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g3dcb651f1b1_1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dcb651f1b1_1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dcb651f1b1_1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3dcb651f1b1_1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dcb651f1b1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dcb651f1b1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dcb651f1b1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142774" y="95534"/>
            <a:ext cx="11906451"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FF0000"/>
                </a:solidFill>
                <a:latin typeface="Times New Roman"/>
                <a:ea typeface="Times New Roman"/>
                <a:cs typeface="Times New Roman"/>
                <a:sym typeface="Times New Roman"/>
              </a:rPr>
              <a:t>KESHAVJI BHARMAL SUMARIA COMMERCE &amp; NATARAJ PROFESSIONAL SCIENCES COLLEGE, VAPI</a:t>
            </a:r>
            <a:endParaRPr/>
          </a:p>
        </p:txBody>
      </p:sp>
      <p:pic>
        <p:nvPicPr>
          <p:cNvPr id="89" name="Google Shape;89;p13" descr="919825186832-1390955014"/>
          <p:cNvPicPr preferRelativeResize="0"/>
          <p:nvPr/>
        </p:nvPicPr>
        <p:blipFill rotWithShape="1">
          <a:blip r:embed="rId3">
            <a:alphaModFix/>
          </a:blip>
          <a:srcRect/>
          <a:stretch/>
        </p:blipFill>
        <p:spPr>
          <a:xfrm>
            <a:off x="4602887" y="1304955"/>
            <a:ext cx="2486282" cy="2486282"/>
          </a:xfrm>
          <a:prstGeom prst="rect">
            <a:avLst/>
          </a:prstGeom>
          <a:noFill/>
          <a:ln>
            <a:noFill/>
          </a:ln>
        </p:spPr>
      </p:pic>
      <p:sp>
        <p:nvSpPr>
          <p:cNvPr id="90" name="Google Shape;90;p13"/>
          <p:cNvSpPr txBox="1"/>
          <p:nvPr/>
        </p:nvSpPr>
        <p:spPr>
          <a:xfrm>
            <a:off x="-142775" y="3791237"/>
            <a:ext cx="12192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dk1"/>
                </a:solidFill>
                <a:latin typeface="Times New Roman"/>
                <a:ea typeface="Times New Roman"/>
                <a:cs typeface="Times New Roman"/>
                <a:sym typeface="Times New Roman"/>
              </a:rPr>
              <a:t>A </a:t>
            </a:r>
            <a:endParaRPr/>
          </a:p>
          <a:p>
            <a:pPr marL="0" marR="0" lvl="0" indent="0" algn="ctr" rtl="0">
              <a:spcBef>
                <a:spcPts val="0"/>
              </a:spcBef>
              <a:spcAft>
                <a:spcPts val="0"/>
              </a:spcAft>
              <a:buNone/>
            </a:pPr>
            <a:r>
              <a:rPr lang="en-US" sz="2000" b="1" i="0" u="none" strike="noStrike" cap="none">
                <a:solidFill>
                  <a:schemeClr val="dk1"/>
                </a:solidFill>
                <a:latin typeface="Times New Roman"/>
                <a:ea typeface="Times New Roman"/>
                <a:cs typeface="Times New Roman"/>
                <a:sym typeface="Times New Roman"/>
              </a:rPr>
              <a:t>Project Report on</a:t>
            </a:r>
            <a:endParaRPr sz="1800" b="1" i="0" u="none" strike="noStrike" cap="none">
              <a:solidFill>
                <a:schemeClr val="dk1"/>
              </a:solidFill>
              <a:latin typeface="Times New Roman"/>
              <a:ea typeface="Times New Roman"/>
              <a:cs typeface="Times New Roman"/>
              <a:sym typeface="Times New Roman"/>
            </a:endParaRPr>
          </a:p>
        </p:txBody>
      </p:sp>
      <p:sp>
        <p:nvSpPr>
          <p:cNvPr id="91" name="Google Shape;91;p13"/>
          <p:cNvSpPr txBox="1"/>
          <p:nvPr/>
        </p:nvSpPr>
        <p:spPr>
          <a:xfrm>
            <a:off x="142774" y="4499123"/>
            <a:ext cx="1190645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dirty="0">
                <a:solidFill>
                  <a:srgbClr val="1F3864"/>
                </a:solidFill>
                <a:latin typeface="Times New Roman"/>
                <a:cs typeface="Times New Roman"/>
              </a:rPr>
              <a:t>CAMPUS BALLOT</a:t>
            </a:r>
            <a:endParaRPr sz="2800" b="1" dirty="0">
              <a:solidFill>
                <a:srgbClr val="1F3864"/>
              </a:solidFill>
              <a:latin typeface="Times New Roman"/>
              <a:cs typeface="Times New Roman"/>
            </a:endParaRPr>
          </a:p>
        </p:txBody>
      </p:sp>
      <p:sp>
        <p:nvSpPr>
          <p:cNvPr id="92" name="Google Shape;92;p13"/>
          <p:cNvSpPr txBox="1"/>
          <p:nvPr/>
        </p:nvSpPr>
        <p:spPr>
          <a:xfrm>
            <a:off x="0" y="5207009"/>
            <a:ext cx="4602900" cy="985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Submitted BY</a:t>
            </a:r>
            <a:endParaRPr dirty="0"/>
          </a:p>
          <a:p>
            <a:pPr marL="0" marR="0" lvl="0" indent="0" algn="ctr" rtl="0">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39 - Vipul Maurya / 75 – Adarsh Singh</a:t>
            </a:r>
            <a:endParaRPr dirty="0"/>
          </a:p>
          <a:p>
            <a:pPr marL="0" marR="0" lvl="0" indent="0" algn="ctr" rtl="0">
              <a:spcBef>
                <a:spcPts val="0"/>
              </a:spcBef>
              <a:spcAft>
                <a:spcPts val="0"/>
              </a:spcAft>
              <a:buNone/>
            </a:pPr>
            <a:endParaRPr sz="1800" b="1" i="0" u="none" strike="noStrike" cap="none" dirty="0">
              <a:solidFill>
                <a:schemeClr val="dk1"/>
              </a:solidFill>
              <a:latin typeface="Times New Roman"/>
              <a:ea typeface="Times New Roman"/>
              <a:cs typeface="Times New Roman"/>
              <a:sym typeface="Times New Roman"/>
            </a:endParaRPr>
          </a:p>
        </p:txBody>
      </p:sp>
      <p:sp>
        <p:nvSpPr>
          <p:cNvPr id="93" name="Google Shape;93;p13"/>
          <p:cNvSpPr txBox="1"/>
          <p:nvPr/>
        </p:nvSpPr>
        <p:spPr>
          <a:xfrm>
            <a:off x="7885056" y="5376285"/>
            <a:ext cx="4089133"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Under the guidance of</a:t>
            </a:r>
          </a:p>
          <a:p>
            <a:pPr marL="0" marR="0" lvl="0" indent="0" algn="ctr" rtl="0">
              <a:spcBef>
                <a:spcPts val="0"/>
              </a:spcBef>
              <a:spcAft>
                <a:spcPts val="0"/>
              </a:spcAft>
              <a:buNone/>
            </a:pPr>
            <a:r>
              <a:rPr lang="en-US" sz="1800" b="1" dirty="0">
                <a:solidFill>
                  <a:schemeClr val="dk1"/>
                </a:solidFill>
                <a:latin typeface="Times New Roman"/>
                <a:cs typeface="Times New Roman"/>
                <a:sym typeface="Times New Roman"/>
              </a:rPr>
              <a:t>Mayuri Patel</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ctrTitle"/>
          </p:nvPr>
        </p:nvSpPr>
        <p:spPr>
          <a:xfrm>
            <a:off x="977704" y="2487168"/>
            <a:ext cx="10236591" cy="1271016"/>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1F3864"/>
              </a:buClr>
              <a:buSzPts val="6000"/>
              <a:buFont typeface="Times New Roman"/>
              <a:buNone/>
            </a:pPr>
            <a:r>
              <a:rPr lang="en-IN" b="1" dirty="0">
                <a:solidFill>
                  <a:srgbClr val="1F3864"/>
                </a:solidFill>
                <a:latin typeface="Times New Roman"/>
                <a:cs typeface="Times New Roman"/>
              </a:rPr>
              <a:t>CAMPUS BALLOT</a:t>
            </a:r>
            <a:endParaRPr b="1" dirty="0">
              <a:solidFill>
                <a:srgbClr val="1F3864"/>
              </a:solidFill>
              <a:latin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ctrTitle"/>
          </p:nvPr>
        </p:nvSpPr>
        <p:spPr>
          <a:xfrm>
            <a:off x="389324" y="422029"/>
            <a:ext cx="3807600" cy="5838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F3864"/>
              </a:buClr>
              <a:buSzPts val="3200"/>
              <a:buFont typeface="Times New Roman"/>
              <a:buNone/>
            </a:pPr>
            <a:r>
              <a:rPr lang="en-US" sz="3200" b="1">
                <a:solidFill>
                  <a:srgbClr val="1F3864"/>
                </a:solidFill>
                <a:latin typeface="Times New Roman"/>
                <a:ea typeface="Times New Roman"/>
                <a:cs typeface="Times New Roman"/>
                <a:sym typeface="Times New Roman"/>
              </a:rPr>
              <a:t>INTRODUCTION</a:t>
            </a:r>
            <a:endParaRPr sz="3200" b="1">
              <a:solidFill>
                <a:srgbClr val="1F3864"/>
              </a:solidFill>
              <a:latin typeface="Times New Roman"/>
              <a:ea typeface="Times New Roman"/>
              <a:cs typeface="Times New Roman"/>
              <a:sym typeface="Times New Roman"/>
            </a:endParaRPr>
          </a:p>
        </p:txBody>
      </p:sp>
      <p:sp>
        <p:nvSpPr>
          <p:cNvPr id="104" name="Google Shape;104;p15"/>
          <p:cNvSpPr txBox="1">
            <a:spLocks noGrp="1"/>
          </p:cNvSpPr>
          <p:nvPr>
            <p:ph type="subTitle" idx="1"/>
          </p:nvPr>
        </p:nvSpPr>
        <p:spPr>
          <a:xfrm>
            <a:off x="389325" y="1005900"/>
            <a:ext cx="11090700" cy="5692200"/>
          </a:xfrm>
          <a:prstGeom prst="rect">
            <a:avLst/>
          </a:prstGeom>
          <a:noFill/>
          <a:ln>
            <a:noFill/>
          </a:ln>
        </p:spPr>
        <p:txBody>
          <a:bodyPr spcFirstLastPara="1" wrap="square" lIns="91425" tIns="45700" rIns="91425" bIns="45700" anchor="t" anchorCtr="0">
            <a:noAutofit/>
          </a:bodyPr>
          <a:lstStyle/>
          <a:p>
            <a:pPr marL="342900" lvl="0" indent="-342900" algn="just">
              <a:lnSpc>
                <a:spcPct val="107000"/>
              </a:lnSpc>
              <a:spcAft>
                <a:spcPts val="800"/>
              </a:spcAft>
              <a:buFont typeface="Wingdings" panose="05000000000000000000" pitchFamily="2" charset="2"/>
              <a:buChar char="Ø"/>
            </a:pPr>
            <a:r>
              <a:rPr lang="en-IN" sz="1800" b="1" dirty="0">
                <a:effectLst/>
                <a:latin typeface="Times New Roman" panose="02020603050405020304" pitchFamily="18" charset="0"/>
                <a:ea typeface="Times New Roman" panose="02020603050405020304" pitchFamily="18" charset="0"/>
                <a:cs typeface="Noto Sans Symbols"/>
              </a:rPr>
              <a:t>CAMPUS BALLOT </a:t>
            </a:r>
            <a:r>
              <a:rPr lang="en-IN" sz="1800" dirty="0">
                <a:effectLst/>
                <a:latin typeface="Times New Roman" panose="02020603050405020304" pitchFamily="18" charset="0"/>
                <a:ea typeface="Times New Roman" panose="02020603050405020304" pitchFamily="18" charset="0"/>
                <a:cs typeface="Noto Sans Symbols"/>
              </a:rPr>
              <a:t>is a web-based E-Voting and Polling System designed for college elections and campus opinion polls. It enables election officers to create ballots, while allowing students to register, vote once per poll, and view live results.</a:t>
            </a:r>
            <a:endParaRPr lang="en-IN" sz="1800" dirty="0">
              <a:effectLst/>
              <a:latin typeface="Noto Sans Symbols"/>
              <a:ea typeface="Noto Sans Symbols"/>
              <a:cs typeface="Noto Sans Symbols"/>
            </a:endParaRPr>
          </a:p>
          <a:p>
            <a:pPr marL="342900" lvl="0" indent="-342900" algn="just">
              <a:lnSpc>
                <a:spcPct val="107000"/>
              </a:lnSpc>
              <a:spcAft>
                <a:spcPts val="800"/>
              </a:spcAft>
              <a:buFont typeface="Wingdings" panose="05000000000000000000" pitchFamily="2" charset="2"/>
              <a:buChar char="Ø"/>
            </a:pPr>
            <a:r>
              <a:rPr lang="en-IN" sz="1800" dirty="0">
                <a:effectLst/>
                <a:latin typeface="Times New Roman" panose="02020603050405020304" pitchFamily="18" charset="0"/>
                <a:ea typeface="Times New Roman" panose="02020603050405020304" pitchFamily="18" charset="0"/>
                <a:cs typeface="Noto Sans Symbols"/>
              </a:rPr>
              <a:t>The platform solves the problem of scattered, paper-based, or unofficial voting by combining registration, ballot casting, and result display into a single system. Students no longer need separate processes for enrolment, voting, and checking outcomes, resulting in a more efficient and transparent campus election experience.</a:t>
            </a:r>
            <a:endParaRPr lang="en-IN" sz="1800" dirty="0">
              <a:effectLst/>
              <a:latin typeface="Noto Sans Symbols"/>
              <a:ea typeface="Noto Sans Symbols"/>
              <a:cs typeface="Noto Sans Symbols"/>
            </a:endParaRPr>
          </a:p>
          <a:p>
            <a:pPr marL="342900" lvl="0" indent="-342900" algn="just">
              <a:lnSpc>
                <a:spcPct val="107000"/>
              </a:lnSpc>
              <a:spcAft>
                <a:spcPts val="800"/>
              </a:spcAft>
              <a:buFont typeface="Wingdings" panose="05000000000000000000" pitchFamily="2" charset="2"/>
              <a:buChar char="Ø"/>
            </a:pPr>
            <a:r>
              <a:rPr lang="en-IN" sz="1800" b="1" dirty="0">
                <a:effectLst/>
                <a:latin typeface="Times New Roman" panose="02020603050405020304" pitchFamily="18" charset="0"/>
                <a:ea typeface="Times New Roman" panose="02020603050405020304" pitchFamily="18" charset="0"/>
                <a:cs typeface="Noto Sans Symbols"/>
              </a:rPr>
              <a:t>CAMPUS BALLOT </a:t>
            </a:r>
            <a:r>
              <a:rPr lang="en-IN" sz="1800" dirty="0">
                <a:effectLst/>
                <a:latin typeface="Times New Roman" panose="02020603050405020304" pitchFamily="18" charset="0"/>
                <a:ea typeface="Times New Roman" panose="02020603050405020304" pitchFamily="18" charset="0"/>
                <a:cs typeface="Noto Sans Symbols"/>
              </a:rPr>
              <a:t>includes one-vote-per-student enforcement and a live tally of candidates or poll options. These features allow students to cast a fair vote, prevent duplicate voting, and understand results clearly after they submit a ballot.</a:t>
            </a:r>
            <a:endParaRPr lang="en-IN" sz="1800" dirty="0">
              <a:effectLst/>
              <a:latin typeface="Noto Sans Symbols"/>
              <a:ea typeface="Noto Sans Symbols"/>
              <a:cs typeface="Noto Sans Symbols"/>
            </a:endParaRPr>
          </a:p>
          <a:p>
            <a:pPr marL="342900" lvl="0" indent="-342900" algn="just">
              <a:lnSpc>
                <a:spcPct val="107000"/>
              </a:lnSpc>
              <a:spcAft>
                <a:spcPts val="800"/>
              </a:spcAft>
              <a:buFont typeface="Wingdings" panose="05000000000000000000" pitchFamily="2" charset="2"/>
              <a:buChar char="Ø"/>
            </a:pPr>
            <a:r>
              <a:rPr lang="en-IN" sz="1800" dirty="0">
                <a:effectLst/>
                <a:latin typeface="Times New Roman" panose="02020603050405020304" pitchFamily="18" charset="0"/>
                <a:ea typeface="Times New Roman" panose="02020603050405020304" pitchFamily="18" charset="0"/>
                <a:cs typeface="Noto Sans Symbols"/>
              </a:rPr>
              <a:t>The system enhances interaction between election officers and students through open and closed ballots, candidate lists, and result bars. Officers can publish elections, close voting, and remove polls, which supports a controlled and accountable election process.</a:t>
            </a:r>
            <a:endParaRPr lang="en-IN" sz="1800" dirty="0">
              <a:effectLst/>
              <a:latin typeface="Noto Sans Symbols"/>
              <a:ea typeface="Noto Sans Symbols"/>
              <a:cs typeface="Noto Sans Symbols"/>
            </a:endParaRPr>
          </a:p>
          <a:p>
            <a:pPr marL="342900" lvl="0" indent="-342900" algn="just">
              <a:lnSpc>
                <a:spcPct val="107000"/>
              </a:lnSpc>
              <a:spcAft>
                <a:spcPts val="800"/>
              </a:spcAft>
              <a:buFont typeface="Wingdings" panose="05000000000000000000" pitchFamily="2" charset="2"/>
              <a:buChar char="Ø"/>
            </a:pPr>
            <a:r>
              <a:rPr lang="en-IN" sz="1800" dirty="0">
                <a:effectLst/>
                <a:latin typeface="Times New Roman" panose="02020603050405020304" pitchFamily="18" charset="0"/>
                <a:ea typeface="Times New Roman" panose="02020603050405020304" pitchFamily="18" charset="0"/>
                <a:cs typeface="Noto Sans Symbols"/>
              </a:rPr>
              <a:t>Additionally, </a:t>
            </a:r>
            <a:r>
              <a:rPr lang="en-IN" sz="1800" b="1" dirty="0">
                <a:effectLst/>
                <a:latin typeface="Times New Roman" panose="02020603050405020304" pitchFamily="18" charset="0"/>
                <a:ea typeface="Times New Roman" panose="02020603050405020304" pitchFamily="18" charset="0"/>
                <a:cs typeface="Noto Sans Symbols"/>
              </a:rPr>
              <a:t>CAMPUS BALLOT </a:t>
            </a:r>
            <a:r>
              <a:rPr lang="en-IN" sz="1800" dirty="0">
                <a:effectLst/>
                <a:latin typeface="Times New Roman" panose="02020603050405020304" pitchFamily="18" charset="0"/>
                <a:ea typeface="Times New Roman" panose="02020603050405020304" pitchFamily="18" charset="0"/>
                <a:cs typeface="Noto Sans Symbols"/>
              </a:rPr>
              <a:t>aims to deliver a simple, interactive, and beginner-friendly environment for both student voters and election officers.</a:t>
            </a:r>
            <a:endParaRPr lang="en-IN" sz="1800" dirty="0">
              <a:effectLst/>
              <a:latin typeface="Noto Sans Symbols"/>
              <a:ea typeface="Noto Sans Symbols"/>
              <a:cs typeface="Noto Sans Symbol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ctrTitle"/>
          </p:nvPr>
        </p:nvSpPr>
        <p:spPr>
          <a:xfrm>
            <a:off x="1523999" y="211014"/>
            <a:ext cx="10306930" cy="7596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F3864"/>
              </a:buClr>
              <a:buSzPts val="3200"/>
              <a:buFont typeface="Times New Roman"/>
              <a:buNone/>
            </a:pPr>
            <a:r>
              <a:rPr lang="en-US" sz="3200" b="1">
                <a:solidFill>
                  <a:srgbClr val="1F3864"/>
                </a:solidFill>
                <a:latin typeface="Times New Roman"/>
                <a:ea typeface="Times New Roman"/>
                <a:cs typeface="Times New Roman"/>
                <a:sym typeface="Times New Roman"/>
              </a:rPr>
              <a:t>PROJECT USERS AND FUNCTIONALITIES</a:t>
            </a:r>
            <a:endParaRPr sz="3200" b="1">
              <a:solidFill>
                <a:srgbClr val="1F3864"/>
              </a:solidFill>
              <a:latin typeface="Times New Roman"/>
              <a:ea typeface="Times New Roman"/>
              <a:cs typeface="Times New Roman"/>
              <a:sym typeface="Times New Roman"/>
            </a:endParaRPr>
          </a:p>
        </p:txBody>
      </p:sp>
      <p:sp>
        <p:nvSpPr>
          <p:cNvPr id="110" name="Google Shape;110;p16"/>
          <p:cNvSpPr txBox="1">
            <a:spLocks noGrp="1"/>
          </p:cNvSpPr>
          <p:nvPr>
            <p:ph type="subTitle" idx="1"/>
          </p:nvPr>
        </p:nvSpPr>
        <p:spPr>
          <a:xfrm>
            <a:off x="1524000" y="1280150"/>
            <a:ext cx="10124100" cy="5358300"/>
          </a:xfrm>
          <a:prstGeom prst="rect">
            <a:avLst/>
          </a:prstGeom>
          <a:noFill/>
          <a:ln>
            <a:noFill/>
          </a:ln>
        </p:spPr>
        <p:txBody>
          <a:bodyPr spcFirstLastPara="1" wrap="square" lIns="91425" tIns="45700" rIns="91425" bIns="45700" anchor="t" anchorCtr="0">
            <a:normAutofit fontScale="92500" lnSpcReduction="10000"/>
          </a:bodyPr>
          <a:lstStyle/>
          <a:p>
            <a:pPr marL="457200" algn="l">
              <a:lnSpc>
                <a:spcPct val="107000"/>
              </a:lnSpc>
              <a:spcBef>
                <a:spcPts val="0"/>
              </a:spcBef>
              <a:buFont typeface="Wingdings" panose="05000000000000000000" pitchFamily="2" charset="2"/>
              <a:buChar char="v"/>
            </a:pPr>
            <a:r>
              <a:rPr lang="en-IN" b="1" dirty="0">
                <a:solidFill>
                  <a:srgbClr val="000000"/>
                </a:solidFill>
                <a:latin typeface="Times New Roman"/>
                <a:cs typeface="Times New Roman"/>
              </a:rPr>
              <a:t>Student (Voter)</a:t>
            </a:r>
          </a:p>
          <a:p>
            <a:pPr marL="914400" algn="l">
              <a:lnSpc>
                <a:spcPct val="107000"/>
              </a:lnSpc>
              <a:spcBef>
                <a:spcPts val="0"/>
              </a:spcBef>
            </a:pPr>
            <a:r>
              <a:rPr lang="en-IN" b="1" dirty="0">
                <a:solidFill>
                  <a:srgbClr val="000000"/>
                </a:solidFill>
                <a:latin typeface="Times New Roman"/>
                <a:cs typeface="Times New Roman"/>
              </a:rPr>
              <a:t>• </a:t>
            </a:r>
            <a:r>
              <a:rPr lang="en-IN" sz="2200" b="1" dirty="0">
                <a:solidFill>
                  <a:srgbClr val="000000"/>
                </a:solidFill>
                <a:latin typeface="Times New Roman"/>
                <a:cs typeface="Times New Roman"/>
              </a:rPr>
              <a:t>Register and login using the authentication system</a:t>
            </a:r>
          </a:p>
          <a:p>
            <a:pPr marL="914400" algn="l">
              <a:lnSpc>
                <a:spcPct val="107000"/>
              </a:lnSpc>
              <a:spcBef>
                <a:spcPts val="0"/>
              </a:spcBef>
            </a:pPr>
            <a:r>
              <a:rPr lang="en-IN" sz="2200" b="1" dirty="0">
                <a:solidFill>
                  <a:srgbClr val="000000"/>
                </a:solidFill>
                <a:latin typeface="Times New Roman"/>
                <a:cs typeface="Times New Roman"/>
              </a:rPr>
              <a:t>• Browse open elections and campus opinion polls</a:t>
            </a:r>
          </a:p>
          <a:p>
            <a:pPr marL="914400" algn="l">
              <a:lnSpc>
                <a:spcPct val="107000"/>
              </a:lnSpc>
              <a:spcBef>
                <a:spcPts val="0"/>
              </a:spcBef>
            </a:pPr>
            <a:r>
              <a:rPr lang="en-IN" sz="2200" b="1" dirty="0">
                <a:solidFill>
                  <a:srgbClr val="000000"/>
                </a:solidFill>
                <a:latin typeface="Times New Roman"/>
                <a:cs typeface="Times New Roman"/>
              </a:rPr>
              <a:t>• View poll details and the candidate or option list before voting</a:t>
            </a:r>
          </a:p>
          <a:p>
            <a:pPr marL="914400" algn="l">
              <a:lnSpc>
                <a:spcPct val="107000"/>
              </a:lnSpc>
              <a:spcBef>
                <a:spcPts val="0"/>
              </a:spcBef>
            </a:pPr>
            <a:r>
              <a:rPr lang="en-IN" sz="2200" b="1" dirty="0">
                <a:solidFill>
                  <a:srgbClr val="000000"/>
                </a:solidFill>
                <a:latin typeface="Times New Roman"/>
                <a:cs typeface="Times New Roman"/>
              </a:rPr>
              <a:t>• Cast exactly one vote in each poll</a:t>
            </a:r>
          </a:p>
          <a:p>
            <a:pPr marL="914400" algn="l">
              <a:lnSpc>
                <a:spcPct val="107000"/>
              </a:lnSpc>
              <a:spcBef>
                <a:spcPts val="0"/>
              </a:spcBef>
            </a:pPr>
            <a:r>
              <a:rPr lang="en-IN" sz="2200" b="1" dirty="0">
                <a:solidFill>
                  <a:srgbClr val="000000"/>
                </a:solidFill>
                <a:latin typeface="Times New Roman"/>
                <a:cs typeface="Times New Roman"/>
              </a:rPr>
              <a:t>• Access the ballot dashboard after login</a:t>
            </a:r>
          </a:p>
          <a:p>
            <a:pPr marL="914400" algn="l">
              <a:lnSpc>
                <a:spcPct val="107000"/>
              </a:lnSpc>
              <a:spcBef>
                <a:spcPts val="0"/>
              </a:spcBef>
            </a:pPr>
            <a:r>
              <a:rPr lang="en-IN" sz="2200" b="1" dirty="0">
                <a:solidFill>
                  <a:srgbClr val="000000"/>
                </a:solidFill>
                <a:latin typeface="Times New Roman"/>
                <a:cs typeface="Times New Roman"/>
              </a:rPr>
              <a:t>• See live result bars after a vote is submitted</a:t>
            </a:r>
          </a:p>
          <a:p>
            <a:pPr marL="914400" algn="l">
              <a:lnSpc>
                <a:spcPct val="107000"/>
              </a:lnSpc>
              <a:spcBef>
                <a:spcPts val="0"/>
              </a:spcBef>
            </a:pPr>
            <a:r>
              <a:rPr lang="en-IN" sz="2200" b="1" dirty="0">
                <a:solidFill>
                  <a:srgbClr val="000000"/>
                </a:solidFill>
                <a:latin typeface="Times New Roman"/>
                <a:cs typeface="Times New Roman"/>
              </a:rPr>
              <a:t>• Track which polls have already been voted on</a:t>
            </a:r>
          </a:p>
          <a:p>
            <a:pPr marL="914400" algn="l">
              <a:lnSpc>
                <a:spcPct val="107000"/>
              </a:lnSpc>
              <a:spcBef>
                <a:spcPts val="0"/>
              </a:spcBef>
            </a:pPr>
            <a:r>
              <a:rPr lang="en-IN" sz="2200" b="1" dirty="0">
                <a:solidFill>
                  <a:srgbClr val="000000"/>
                </a:solidFill>
                <a:latin typeface="Times New Roman"/>
                <a:cs typeface="Times New Roman"/>
              </a:rPr>
              <a:t>• View total vote counts for each poll</a:t>
            </a:r>
          </a:p>
          <a:p>
            <a:pPr marL="914400" algn="l">
              <a:lnSpc>
                <a:spcPct val="107000"/>
              </a:lnSpc>
              <a:spcBef>
                <a:spcPts val="0"/>
              </a:spcBef>
            </a:pPr>
            <a:r>
              <a:rPr lang="en-IN" sz="2200" b="1" dirty="0">
                <a:solidFill>
                  <a:srgbClr val="000000"/>
                </a:solidFill>
                <a:latin typeface="Times New Roman"/>
                <a:cs typeface="Times New Roman"/>
              </a:rPr>
              <a:t>• Receive a confirmation message after a successful vote</a:t>
            </a:r>
          </a:p>
          <a:p>
            <a:pPr marL="914400" algn="l">
              <a:lnSpc>
                <a:spcPct val="107000"/>
              </a:lnSpc>
              <a:spcBef>
                <a:spcPts val="0"/>
              </a:spcBef>
            </a:pPr>
            <a:r>
              <a:rPr lang="en-IN" sz="2200" b="1" dirty="0">
                <a:solidFill>
                  <a:srgbClr val="000000"/>
                </a:solidFill>
                <a:latin typeface="Times New Roman"/>
                <a:cs typeface="Times New Roman"/>
              </a:rPr>
              <a:t>• </a:t>
            </a:r>
            <a:r>
              <a:rPr lang="en-IN" sz="2200" b="1" dirty="0" err="1">
                <a:solidFill>
                  <a:srgbClr val="000000"/>
                </a:solidFill>
                <a:latin typeface="Times New Roman"/>
                <a:cs typeface="Times New Roman"/>
              </a:rPr>
              <a:t>Enroll</a:t>
            </a:r>
            <a:r>
              <a:rPr lang="en-IN" sz="2200" b="1" dirty="0">
                <a:solidFill>
                  <a:srgbClr val="000000"/>
                </a:solidFill>
                <a:latin typeface="Times New Roman"/>
                <a:cs typeface="Times New Roman"/>
              </a:rPr>
              <a:t> using college email and a unique student ID</a:t>
            </a:r>
          </a:p>
          <a:p>
            <a:pPr marL="914400" algn="l">
              <a:lnSpc>
                <a:spcPct val="107000"/>
              </a:lnSpc>
              <a:spcBef>
                <a:spcPts val="0"/>
              </a:spcBef>
            </a:pPr>
            <a:r>
              <a:rPr lang="en-IN" sz="2200" b="1" dirty="0">
                <a:solidFill>
                  <a:srgbClr val="000000"/>
                </a:solidFill>
                <a:latin typeface="Times New Roman"/>
                <a:cs typeface="Times New Roman"/>
              </a:rPr>
              <a:t>• Open a selected poll from the ballot list</a:t>
            </a:r>
          </a:p>
          <a:p>
            <a:pPr marL="914400" algn="l">
              <a:lnSpc>
                <a:spcPct val="107000"/>
              </a:lnSpc>
              <a:spcBef>
                <a:spcPts val="0"/>
              </a:spcBef>
            </a:pPr>
            <a:r>
              <a:rPr lang="en-IN" sz="2200" b="1" dirty="0">
                <a:solidFill>
                  <a:srgbClr val="000000"/>
                </a:solidFill>
                <a:latin typeface="Times New Roman"/>
                <a:cs typeface="Times New Roman"/>
              </a:rPr>
              <a:t>• View candidate names and party or option labels</a:t>
            </a:r>
          </a:p>
          <a:p>
            <a:pPr marL="914400" algn="l">
              <a:lnSpc>
                <a:spcPct val="107000"/>
              </a:lnSpc>
              <a:spcBef>
                <a:spcPts val="0"/>
              </a:spcBef>
            </a:pPr>
            <a:r>
              <a:rPr lang="en-IN" sz="2200" b="1" dirty="0">
                <a:solidFill>
                  <a:srgbClr val="000000"/>
                </a:solidFill>
                <a:latin typeface="Times New Roman"/>
                <a:cs typeface="Times New Roman"/>
              </a:rPr>
              <a:t>• Cannot submit a second vote in the same poll</a:t>
            </a:r>
          </a:p>
          <a:p>
            <a:pPr marL="914400" algn="l">
              <a:lnSpc>
                <a:spcPct val="107000"/>
              </a:lnSpc>
              <a:spcBef>
                <a:spcPts val="0"/>
              </a:spcBef>
            </a:pPr>
            <a:r>
              <a:rPr lang="en-IN" sz="2200" b="1" dirty="0">
                <a:solidFill>
                  <a:srgbClr val="000000"/>
                </a:solidFill>
                <a:latin typeface="Times New Roman"/>
                <a:cs typeface="Times New Roman"/>
              </a:rPr>
              <a:t>• View results of closed polls</a:t>
            </a:r>
          </a:p>
          <a:p>
            <a:pPr marL="914400" algn="l">
              <a:lnSpc>
                <a:spcPct val="107000"/>
              </a:lnSpc>
              <a:spcBef>
                <a:spcPts val="0"/>
              </a:spcBef>
            </a:pPr>
            <a:r>
              <a:rPr lang="en-IN" sz="2200" b="1" dirty="0">
                <a:solidFill>
                  <a:srgbClr val="000000"/>
                </a:solidFill>
                <a:latin typeface="Times New Roman"/>
                <a:cs typeface="Times New Roman"/>
              </a:rPr>
              <a:t>• Log out securely from the current session</a:t>
            </a:r>
          </a:p>
          <a:p>
            <a:pPr marL="914400" algn="l">
              <a:lnSpc>
                <a:spcPct val="107000"/>
              </a:lnSpc>
              <a:spcBef>
                <a:spcPts val="0"/>
              </a:spcBef>
            </a:pPr>
            <a:r>
              <a:rPr lang="en-IN" sz="2200" b="1" dirty="0">
                <a:solidFill>
                  <a:srgbClr val="000000"/>
                </a:solidFill>
                <a:latin typeface="Times New Roman"/>
                <a:cs typeface="Times New Roman"/>
              </a:rPr>
              <a:t>• Access only voter features and not the officer desk</a:t>
            </a:r>
          </a:p>
        </p:txBody>
      </p:sp>
    </p:spTree>
    <p:extLst>
      <p:ext uri="{BB962C8B-B14F-4D97-AF65-F5344CB8AC3E}">
        <p14:creationId xmlns:p14="http://schemas.microsoft.com/office/powerpoint/2010/main" val="2572469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ctrTitle"/>
          </p:nvPr>
        </p:nvSpPr>
        <p:spPr>
          <a:xfrm>
            <a:off x="1523999" y="211014"/>
            <a:ext cx="10306800" cy="759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F3864"/>
              </a:buClr>
              <a:buSzPts val="3200"/>
              <a:buFont typeface="Times New Roman"/>
              <a:buNone/>
            </a:pPr>
            <a:r>
              <a:rPr lang="en-US" sz="3200" b="1">
                <a:solidFill>
                  <a:srgbClr val="1F3864"/>
                </a:solidFill>
                <a:latin typeface="Times New Roman"/>
                <a:ea typeface="Times New Roman"/>
                <a:cs typeface="Times New Roman"/>
                <a:sym typeface="Times New Roman"/>
              </a:rPr>
              <a:t>PROJECT USERS AND FUNCTIONALITIES</a:t>
            </a:r>
            <a:endParaRPr sz="3200" b="1">
              <a:solidFill>
                <a:srgbClr val="1F3864"/>
              </a:solidFill>
              <a:latin typeface="Times New Roman"/>
              <a:ea typeface="Times New Roman"/>
              <a:cs typeface="Times New Roman"/>
              <a:sym typeface="Times New Roman"/>
            </a:endParaRPr>
          </a:p>
        </p:txBody>
      </p:sp>
      <p:sp>
        <p:nvSpPr>
          <p:cNvPr id="116" name="Google Shape;116;p17"/>
          <p:cNvSpPr txBox="1">
            <a:spLocks noGrp="1"/>
          </p:cNvSpPr>
          <p:nvPr>
            <p:ph type="subTitle" idx="1"/>
          </p:nvPr>
        </p:nvSpPr>
        <p:spPr>
          <a:xfrm>
            <a:off x="1524000" y="1280150"/>
            <a:ext cx="10124100" cy="5358300"/>
          </a:xfrm>
          <a:prstGeom prst="rect">
            <a:avLst/>
          </a:prstGeom>
          <a:noFill/>
          <a:ln>
            <a:noFill/>
          </a:ln>
        </p:spPr>
        <p:txBody>
          <a:bodyPr spcFirstLastPara="1" wrap="square" lIns="91425" tIns="45700" rIns="91425" bIns="45700" anchor="t" anchorCtr="0">
            <a:normAutofit/>
          </a:bodyPr>
          <a:lstStyle/>
          <a:p>
            <a:pPr marL="508000" indent="-457200" algn="l">
              <a:lnSpc>
                <a:spcPct val="107000"/>
              </a:lnSpc>
              <a:spcBef>
                <a:spcPts val="0"/>
              </a:spcBef>
              <a:buFont typeface="Wingdings" panose="05000000000000000000" pitchFamily="2" charset="2"/>
              <a:buChar char="v"/>
            </a:pPr>
            <a:r>
              <a:rPr lang="en-IN" b="1" dirty="0">
                <a:solidFill>
                  <a:srgbClr val="000000"/>
                </a:solidFill>
                <a:latin typeface="Times New Roman"/>
                <a:cs typeface="Times New Roman"/>
              </a:rPr>
              <a:t>Election Officer</a:t>
            </a:r>
          </a:p>
          <a:p>
            <a:pPr marL="914400" algn="l">
              <a:lnSpc>
                <a:spcPct val="107000"/>
              </a:lnSpc>
              <a:spcBef>
                <a:spcPts val="0"/>
              </a:spcBef>
            </a:pPr>
            <a:r>
              <a:rPr lang="en-IN" sz="1600" b="1" dirty="0">
                <a:solidFill>
                  <a:srgbClr val="000000"/>
                </a:solidFill>
                <a:latin typeface="Times New Roman"/>
                <a:cs typeface="Times New Roman"/>
              </a:rPr>
              <a:t>• Login using the officer authentication system</a:t>
            </a:r>
          </a:p>
          <a:p>
            <a:pPr marL="914400" algn="l">
              <a:lnSpc>
                <a:spcPct val="107000"/>
              </a:lnSpc>
              <a:spcBef>
                <a:spcPts val="0"/>
              </a:spcBef>
            </a:pPr>
            <a:r>
              <a:rPr lang="en-IN" sz="1600" b="1" dirty="0">
                <a:solidFill>
                  <a:srgbClr val="000000"/>
                </a:solidFill>
                <a:latin typeface="Times New Roman"/>
                <a:cs typeface="Times New Roman"/>
              </a:rPr>
              <a:t>• Open the officer desk to manage campus ballots</a:t>
            </a:r>
          </a:p>
          <a:p>
            <a:pPr marL="914400" algn="l">
              <a:lnSpc>
                <a:spcPct val="107000"/>
              </a:lnSpc>
              <a:spcBef>
                <a:spcPts val="0"/>
              </a:spcBef>
            </a:pPr>
            <a:r>
              <a:rPr lang="en-IN" sz="1600" b="1" dirty="0">
                <a:solidFill>
                  <a:srgbClr val="000000"/>
                </a:solidFill>
                <a:latin typeface="Times New Roman"/>
                <a:cs typeface="Times New Roman"/>
              </a:rPr>
              <a:t>• Create and publish new elections or opinion polls</a:t>
            </a:r>
          </a:p>
          <a:p>
            <a:pPr marL="914400" algn="l">
              <a:lnSpc>
                <a:spcPct val="107000"/>
              </a:lnSpc>
              <a:spcBef>
                <a:spcPts val="0"/>
              </a:spcBef>
            </a:pPr>
            <a:r>
              <a:rPr lang="en-IN" sz="1600" b="1" dirty="0">
                <a:solidFill>
                  <a:srgbClr val="000000"/>
                </a:solidFill>
                <a:latin typeface="Times New Roman"/>
                <a:cs typeface="Times New Roman"/>
              </a:rPr>
              <a:t>• Add poll details including title, description, and category</a:t>
            </a:r>
          </a:p>
          <a:p>
            <a:pPr marL="914400" algn="l">
              <a:lnSpc>
                <a:spcPct val="107000"/>
              </a:lnSpc>
              <a:spcBef>
                <a:spcPts val="0"/>
              </a:spcBef>
            </a:pPr>
            <a:r>
              <a:rPr lang="en-IN" sz="1600" b="1" dirty="0">
                <a:solidFill>
                  <a:srgbClr val="000000"/>
                </a:solidFill>
                <a:latin typeface="Times New Roman"/>
                <a:cs typeface="Times New Roman"/>
              </a:rPr>
              <a:t>• Add at least two candidates or poll options</a:t>
            </a:r>
          </a:p>
          <a:p>
            <a:pPr marL="914400" algn="l">
              <a:lnSpc>
                <a:spcPct val="107000"/>
              </a:lnSpc>
              <a:spcBef>
                <a:spcPts val="0"/>
              </a:spcBef>
            </a:pPr>
            <a:r>
              <a:rPr lang="en-IN" sz="1600" b="1" dirty="0">
                <a:solidFill>
                  <a:srgbClr val="000000"/>
                </a:solidFill>
                <a:latin typeface="Times New Roman"/>
                <a:cs typeface="Times New Roman"/>
              </a:rPr>
              <a:t>• View and manage existing polls</a:t>
            </a:r>
          </a:p>
          <a:p>
            <a:pPr marL="914400" algn="l">
              <a:lnSpc>
                <a:spcPct val="107000"/>
              </a:lnSpc>
              <a:spcBef>
                <a:spcPts val="0"/>
              </a:spcBef>
            </a:pPr>
            <a:r>
              <a:rPr lang="en-IN" sz="1600" b="1" dirty="0">
                <a:solidFill>
                  <a:srgbClr val="000000"/>
                </a:solidFill>
                <a:latin typeface="Times New Roman"/>
                <a:cs typeface="Times New Roman"/>
              </a:rPr>
              <a:t>• Monitor the total number of votes on each poll</a:t>
            </a:r>
          </a:p>
          <a:p>
            <a:pPr marL="914400" algn="l">
              <a:lnSpc>
                <a:spcPct val="107000"/>
              </a:lnSpc>
              <a:spcBef>
                <a:spcPts val="0"/>
              </a:spcBef>
            </a:pPr>
            <a:r>
              <a:rPr lang="en-IN" sz="1600" b="1" dirty="0">
                <a:solidFill>
                  <a:srgbClr val="000000"/>
                </a:solidFill>
                <a:latin typeface="Times New Roman"/>
                <a:cs typeface="Times New Roman"/>
              </a:rPr>
              <a:t>• Close or reopen voting for a poll</a:t>
            </a:r>
          </a:p>
          <a:p>
            <a:pPr marL="914400" algn="l">
              <a:lnSpc>
                <a:spcPct val="107000"/>
              </a:lnSpc>
              <a:spcBef>
                <a:spcPts val="0"/>
              </a:spcBef>
            </a:pPr>
            <a:r>
              <a:rPr lang="en-IN" sz="1600" b="1" dirty="0">
                <a:solidFill>
                  <a:srgbClr val="000000"/>
                </a:solidFill>
                <a:latin typeface="Times New Roman"/>
                <a:cs typeface="Times New Roman"/>
              </a:rPr>
              <a:t>• Delete a poll along with its recorded votes</a:t>
            </a:r>
          </a:p>
          <a:p>
            <a:pPr marL="914400" algn="l">
              <a:lnSpc>
                <a:spcPct val="107000"/>
              </a:lnSpc>
              <a:spcBef>
                <a:spcPts val="0"/>
              </a:spcBef>
            </a:pPr>
            <a:r>
              <a:rPr lang="en-IN" sz="1600" b="1" dirty="0">
                <a:solidFill>
                  <a:srgbClr val="000000"/>
                </a:solidFill>
                <a:latin typeface="Times New Roman"/>
                <a:cs typeface="Times New Roman"/>
              </a:rPr>
              <a:t>• View results without being allowed to vote</a:t>
            </a:r>
          </a:p>
          <a:p>
            <a:pPr marL="914400" lvl="0" indent="0" algn="l" rtl="0">
              <a:lnSpc>
                <a:spcPct val="100000"/>
              </a:lnSpc>
              <a:spcBef>
                <a:spcPts val="0"/>
              </a:spcBef>
              <a:spcAft>
                <a:spcPts val="0"/>
              </a:spcAft>
              <a:buNone/>
            </a:pPr>
            <a:endParaRPr sz="1600" dirty="0">
              <a:latin typeface="Times New Roman"/>
              <a:ea typeface="Times New Roman"/>
              <a:cs typeface="Times New Roman"/>
              <a:sym typeface="Times New Roman"/>
            </a:endParaRPr>
          </a:p>
          <a:p>
            <a:pPr marL="342900" lvl="0" indent="-342900" algn="l" rtl="0">
              <a:spcBef>
                <a:spcPts val="0"/>
              </a:spcBef>
              <a:spcAft>
                <a:spcPts val="0"/>
              </a:spcAft>
              <a:buSzPts val="2400"/>
              <a:buFont typeface="Wingdings" panose="05000000000000000000" pitchFamily="2" charset="2"/>
              <a:buChar char="v"/>
            </a:pPr>
            <a:r>
              <a:rPr lang="en-US" b="1" dirty="0">
                <a:latin typeface="Times New Roman"/>
                <a:ea typeface="Times New Roman"/>
                <a:cs typeface="Times New Roman"/>
                <a:sym typeface="Times New Roman"/>
              </a:rPr>
              <a:t>  Guest</a:t>
            </a:r>
            <a:endParaRPr b="1" dirty="0">
              <a:latin typeface="Times New Roman"/>
              <a:ea typeface="Times New Roman"/>
              <a:cs typeface="Times New Roman"/>
              <a:sym typeface="Times New Roman"/>
            </a:endParaRPr>
          </a:p>
          <a:p>
            <a:pPr marL="914400" algn="l">
              <a:lnSpc>
                <a:spcPct val="117000"/>
              </a:lnSpc>
              <a:spcBef>
                <a:spcPts val="0"/>
              </a:spcBef>
            </a:pPr>
            <a:r>
              <a:rPr lang="en-IN" sz="1600" b="1" dirty="0">
                <a:solidFill>
                  <a:srgbClr val="000000"/>
                </a:solidFill>
                <a:latin typeface="Times New Roman"/>
                <a:cs typeface="Times New Roman"/>
              </a:rPr>
              <a:t>• View the Campus Ballot home page</a:t>
            </a:r>
          </a:p>
          <a:p>
            <a:pPr marL="914400" algn="l">
              <a:lnSpc>
                <a:spcPct val="117000"/>
              </a:lnSpc>
              <a:spcBef>
                <a:spcPts val="0"/>
              </a:spcBef>
            </a:pPr>
            <a:r>
              <a:rPr lang="en-IN" sz="1600" b="1" dirty="0">
                <a:solidFill>
                  <a:srgbClr val="000000"/>
                </a:solidFill>
                <a:latin typeface="Times New Roman"/>
                <a:cs typeface="Times New Roman"/>
              </a:rPr>
              <a:t>• Read how student voting and officer tools work</a:t>
            </a:r>
          </a:p>
          <a:p>
            <a:pPr marL="914400" algn="l">
              <a:lnSpc>
                <a:spcPct val="117000"/>
              </a:lnSpc>
              <a:spcBef>
                <a:spcPts val="0"/>
              </a:spcBef>
            </a:pPr>
            <a:r>
              <a:rPr lang="en-IN" sz="1600" b="1" dirty="0">
                <a:solidFill>
                  <a:srgbClr val="000000"/>
                </a:solidFill>
                <a:latin typeface="Times New Roman"/>
                <a:cs typeface="Times New Roman"/>
              </a:rPr>
              <a:t>• Open the login and student registration pages</a:t>
            </a:r>
          </a:p>
          <a:p>
            <a:pPr marL="914400" algn="l">
              <a:lnSpc>
                <a:spcPct val="117000"/>
              </a:lnSpc>
              <a:spcBef>
                <a:spcPts val="0"/>
              </a:spcBef>
            </a:pPr>
            <a:r>
              <a:rPr lang="en-IN" sz="1600" b="1" dirty="0">
                <a:solidFill>
                  <a:srgbClr val="000000"/>
                </a:solidFill>
                <a:latin typeface="Times New Roman"/>
                <a:cs typeface="Times New Roman"/>
              </a:rPr>
              <a:t>• Cannot cast a vote without creating an account</a:t>
            </a:r>
            <a:endParaRPr sz="1600" b="1" dirty="0">
              <a:solidFill>
                <a:srgbClr val="000000"/>
              </a:solidFill>
              <a:latin typeface="Times New Roman"/>
              <a:cs typeface="Times New Roman"/>
              <a:sym typeface="Times New Roman"/>
            </a:endParaRPr>
          </a:p>
          <a:p>
            <a:pPr marL="0" lvl="0" indent="0" algn="l" rtl="0">
              <a:lnSpc>
                <a:spcPct val="100000"/>
              </a:lnSpc>
              <a:spcBef>
                <a:spcPts val="0"/>
              </a:spcBef>
              <a:spcAft>
                <a:spcPts val="0"/>
              </a:spcAft>
              <a:buNone/>
            </a:pPr>
            <a:endParaRPr sz="16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a:spLocks noGrp="1"/>
          </p:cNvSpPr>
          <p:nvPr>
            <p:ph type="ctrTitle"/>
          </p:nvPr>
        </p:nvSpPr>
        <p:spPr>
          <a:xfrm>
            <a:off x="1523999" y="211014"/>
            <a:ext cx="10124050" cy="7596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F3864"/>
              </a:buClr>
              <a:buSzPts val="3200"/>
              <a:buFont typeface="Times New Roman"/>
              <a:buNone/>
            </a:pPr>
            <a:r>
              <a:rPr lang="en-US" sz="3200" b="1">
                <a:solidFill>
                  <a:srgbClr val="1F3864"/>
                </a:solidFill>
                <a:latin typeface="Times New Roman"/>
                <a:ea typeface="Times New Roman"/>
                <a:cs typeface="Times New Roman"/>
                <a:sym typeface="Times New Roman"/>
              </a:rPr>
              <a:t>PROJECT PROFILE</a:t>
            </a:r>
            <a:endParaRPr sz="3200" b="1">
              <a:solidFill>
                <a:srgbClr val="1F3864"/>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FEFBA033-FFEA-3B4E-357A-EF13702AE981}"/>
              </a:ext>
            </a:extLst>
          </p:cNvPr>
          <p:cNvPicPr>
            <a:picLocks noChangeAspect="1"/>
          </p:cNvPicPr>
          <p:nvPr/>
        </p:nvPicPr>
        <p:blipFill>
          <a:blip r:embed="rId3"/>
          <a:stretch>
            <a:fillRect/>
          </a:stretch>
        </p:blipFill>
        <p:spPr>
          <a:xfrm>
            <a:off x="532994" y="1477391"/>
            <a:ext cx="11126011" cy="42661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ctrTitle"/>
          </p:nvPr>
        </p:nvSpPr>
        <p:spPr>
          <a:xfrm>
            <a:off x="977704" y="2777587"/>
            <a:ext cx="10236591" cy="130282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1F3864"/>
              </a:buClr>
              <a:buSzPts val="6000"/>
              <a:buFont typeface="Times New Roman"/>
              <a:buNone/>
            </a:pPr>
            <a:r>
              <a:rPr lang="en-US" b="1">
                <a:solidFill>
                  <a:srgbClr val="1F3864"/>
                </a:solidFill>
                <a:latin typeface="Times New Roman"/>
                <a:ea typeface="Times New Roman"/>
                <a:cs typeface="Times New Roman"/>
                <a:sym typeface="Times New Roman"/>
              </a:rPr>
              <a:t>DATA FLOW DIAGRAM</a:t>
            </a:r>
            <a:endParaRPr b="1">
              <a:solidFill>
                <a:srgbClr val="1F3864"/>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ctrTitle"/>
          </p:nvPr>
        </p:nvSpPr>
        <p:spPr>
          <a:xfrm>
            <a:off x="468922" y="0"/>
            <a:ext cx="10124050" cy="7596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F3864"/>
              </a:buClr>
              <a:buSzPts val="3200"/>
              <a:buFont typeface="Times New Roman"/>
              <a:buNone/>
            </a:pPr>
            <a:r>
              <a:rPr lang="en-US" sz="3200" b="1">
                <a:solidFill>
                  <a:srgbClr val="1F3864"/>
                </a:solidFill>
                <a:latin typeface="Times New Roman"/>
                <a:ea typeface="Times New Roman"/>
                <a:cs typeface="Times New Roman"/>
                <a:sym typeface="Times New Roman"/>
              </a:rPr>
              <a:t>0-LEVEL DFD</a:t>
            </a:r>
            <a:endParaRPr sz="3200" b="1">
              <a:solidFill>
                <a:srgbClr val="1F3864"/>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95264DA-0445-CFB9-75E4-886EEB3BABFD}"/>
              </a:ext>
            </a:extLst>
          </p:cNvPr>
          <p:cNvPicPr>
            <a:picLocks noChangeAspect="1"/>
          </p:cNvPicPr>
          <p:nvPr/>
        </p:nvPicPr>
        <p:blipFill>
          <a:blip r:embed="rId3"/>
          <a:stretch>
            <a:fillRect/>
          </a:stretch>
        </p:blipFill>
        <p:spPr>
          <a:xfrm>
            <a:off x="2771311" y="1075996"/>
            <a:ext cx="6649378" cy="47060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4" name="Picture 3">
            <a:extLst>
              <a:ext uri="{FF2B5EF4-FFF2-40B4-BE49-F238E27FC236}">
                <a16:creationId xmlns:a16="http://schemas.microsoft.com/office/drawing/2014/main" id="{D6D55B22-C231-A13E-5FAE-25F9076F71DB}"/>
              </a:ext>
            </a:extLst>
          </p:cNvPr>
          <p:cNvPicPr>
            <a:picLocks noChangeAspect="1"/>
          </p:cNvPicPr>
          <p:nvPr/>
        </p:nvPicPr>
        <p:blipFill>
          <a:blip r:embed="rId3"/>
          <a:stretch>
            <a:fillRect/>
          </a:stretch>
        </p:blipFill>
        <p:spPr>
          <a:xfrm>
            <a:off x="3720501" y="0"/>
            <a:ext cx="4750997"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ctrTitle"/>
          </p:nvPr>
        </p:nvSpPr>
        <p:spPr>
          <a:xfrm>
            <a:off x="977704" y="2777587"/>
            <a:ext cx="10236591" cy="130282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1F3864"/>
              </a:buClr>
              <a:buSzPts val="6000"/>
              <a:buFont typeface="Times New Roman"/>
              <a:buNone/>
            </a:pPr>
            <a:r>
              <a:rPr lang="en-US" b="1">
                <a:solidFill>
                  <a:srgbClr val="1F3864"/>
                </a:solidFill>
                <a:latin typeface="Times New Roman"/>
                <a:ea typeface="Times New Roman"/>
                <a:cs typeface="Times New Roman"/>
                <a:sym typeface="Times New Roman"/>
              </a:rPr>
              <a:t>ER DIAGRAM</a:t>
            </a:r>
            <a:endParaRPr b="1">
              <a:solidFill>
                <a:srgbClr val="1F3864"/>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2" name="Picture 1">
            <a:extLst>
              <a:ext uri="{FF2B5EF4-FFF2-40B4-BE49-F238E27FC236}">
                <a16:creationId xmlns:a16="http://schemas.microsoft.com/office/drawing/2014/main" id="{D4E95262-EE71-DCD4-F589-642CB84EF4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a:spLocks noGrp="1"/>
          </p:cNvSpPr>
          <p:nvPr>
            <p:ph type="ctrTitle"/>
          </p:nvPr>
        </p:nvSpPr>
        <p:spPr>
          <a:xfrm>
            <a:off x="977704" y="2777587"/>
            <a:ext cx="10236591" cy="130282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1F3864"/>
              </a:buClr>
              <a:buSzPts val="6000"/>
              <a:buFont typeface="Times New Roman"/>
              <a:buNone/>
            </a:pPr>
            <a:r>
              <a:rPr lang="en-US" b="1">
                <a:solidFill>
                  <a:srgbClr val="1F3864"/>
                </a:solidFill>
                <a:latin typeface="Times New Roman"/>
                <a:ea typeface="Times New Roman"/>
                <a:cs typeface="Times New Roman"/>
                <a:sym typeface="Times New Roman"/>
              </a:rPr>
              <a:t>DATABASE DESIGN</a:t>
            </a:r>
            <a:endParaRPr b="1">
              <a:solidFill>
                <a:srgbClr val="1F3864"/>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3" name="Picture 2">
            <a:extLst>
              <a:ext uri="{FF2B5EF4-FFF2-40B4-BE49-F238E27FC236}">
                <a16:creationId xmlns:a16="http://schemas.microsoft.com/office/drawing/2014/main" id="{0434330F-8F5F-D369-AC73-E0A514E892B4}"/>
              </a:ext>
            </a:extLst>
          </p:cNvPr>
          <p:cNvPicPr>
            <a:picLocks noChangeAspect="1"/>
          </p:cNvPicPr>
          <p:nvPr/>
        </p:nvPicPr>
        <p:blipFill>
          <a:blip r:embed="rId3"/>
          <a:stretch>
            <a:fillRect/>
          </a:stretch>
        </p:blipFill>
        <p:spPr>
          <a:xfrm>
            <a:off x="2371499" y="1275601"/>
            <a:ext cx="7449001" cy="43067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3" name="Picture 2">
            <a:extLst>
              <a:ext uri="{FF2B5EF4-FFF2-40B4-BE49-F238E27FC236}">
                <a16:creationId xmlns:a16="http://schemas.microsoft.com/office/drawing/2014/main" id="{AC01A257-F663-2302-5545-D06FF0A2651D}"/>
              </a:ext>
            </a:extLst>
          </p:cNvPr>
          <p:cNvPicPr>
            <a:picLocks noChangeAspect="1"/>
          </p:cNvPicPr>
          <p:nvPr/>
        </p:nvPicPr>
        <p:blipFill>
          <a:blip r:embed="rId3"/>
          <a:stretch>
            <a:fillRect/>
          </a:stretch>
        </p:blipFill>
        <p:spPr>
          <a:xfrm>
            <a:off x="2446398" y="1690580"/>
            <a:ext cx="7299203" cy="347683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3" name="Picture 2">
            <a:extLst>
              <a:ext uri="{FF2B5EF4-FFF2-40B4-BE49-F238E27FC236}">
                <a16:creationId xmlns:a16="http://schemas.microsoft.com/office/drawing/2014/main" id="{200C1337-8E0D-496F-9857-F67BCAC95642}"/>
              </a:ext>
            </a:extLst>
          </p:cNvPr>
          <p:cNvPicPr>
            <a:picLocks noChangeAspect="1"/>
          </p:cNvPicPr>
          <p:nvPr/>
        </p:nvPicPr>
        <p:blipFill>
          <a:blip r:embed="rId3"/>
          <a:stretch>
            <a:fillRect/>
          </a:stretch>
        </p:blipFill>
        <p:spPr>
          <a:xfrm>
            <a:off x="2431029" y="728495"/>
            <a:ext cx="7329942" cy="54010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txBox="1">
            <a:spLocks noGrp="1"/>
          </p:cNvSpPr>
          <p:nvPr>
            <p:ph type="ctrTitle"/>
          </p:nvPr>
        </p:nvSpPr>
        <p:spPr>
          <a:xfrm>
            <a:off x="977704" y="2777587"/>
            <a:ext cx="10236591" cy="130282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1F3864"/>
              </a:buClr>
              <a:buSzPts val="6000"/>
              <a:buFont typeface="Times New Roman"/>
              <a:buNone/>
            </a:pPr>
            <a:r>
              <a:rPr lang="en-US" b="1">
                <a:solidFill>
                  <a:srgbClr val="1F3864"/>
                </a:solidFill>
                <a:latin typeface="Times New Roman"/>
                <a:ea typeface="Times New Roman"/>
                <a:cs typeface="Times New Roman"/>
                <a:sym typeface="Times New Roman"/>
              </a:rPr>
              <a:t>IMPLEMENTATION DETAILS</a:t>
            </a:r>
            <a:endParaRPr b="1">
              <a:solidFill>
                <a:srgbClr val="1F3864"/>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D66BC5-4717-2E4B-4298-9A28E801020A}"/>
              </a:ext>
            </a:extLst>
          </p:cNvPr>
          <p:cNvPicPr>
            <a:picLocks noChangeAspect="1"/>
          </p:cNvPicPr>
          <p:nvPr/>
        </p:nvPicPr>
        <p:blipFill>
          <a:blip r:embed="rId2"/>
          <a:stretch>
            <a:fillRect/>
          </a:stretch>
        </p:blipFill>
        <p:spPr>
          <a:xfrm>
            <a:off x="90484" y="428625"/>
            <a:ext cx="12068228" cy="6029325"/>
          </a:xfrm>
          <a:prstGeom prst="rect">
            <a:avLst/>
          </a:prstGeom>
        </p:spPr>
      </p:pic>
    </p:spTree>
    <p:extLst>
      <p:ext uri="{BB962C8B-B14F-4D97-AF65-F5344CB8AC3E}">
        <p14:creationId xmlns:p14="http://schemas.microsoft.com/office/powerpoint/2010/main" val="2161033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6F26CD-B0F5-4504-DB9C-645BCB85803B}"/>
              </a:ext>
            </a:extLst>
          </p:cNvPr>
          <p:cNvPicPr>
            <a:picLocks noChangeAspect="1"/>
          </p:cNvPicPr>
          <p:nvPr/>
        </p:nvPicPr>
        <p:blipFill>
          <a:blip r:embed="rId2"/>
          <a:stretch>
            <a:fillRect/>
          </a:stretch>
        </p:blipFill>
        <p:spPr>
          <a:xfrm>
            <a:off x="1" y="371475"/>
            <a:ext cx="12192000" cy="6134554"/>
          </a:xfrm>
          <a:prstGeom prst="rect">
            <a:avLst/>
          </a:prstGeom>
        </p:spPr>
      </p:pic>
    </p:spTree>
    <p:extLst>
      <p:ext uri="{BB962C8B-B14F-4D97-AF65-F5344CB8AC3E}">
        <p14:creationId xmlns:p14="http://schemas.microsoft.com/office/powerpoint/2010/main" val="419963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31D1E4-25E5-7BD1-F7C2-2EE24541EDC5}"/>
              </a:ext>
            </a:extLst>
          </p:cNvPr>
          <p:cNvPicPr>
            <a:picLocks noChangeAspect="1"/>
          </p:cNvPicPr>
          <p:nvPr/>
        </p:nvPicPr>
        <p:blipFill>
          <a:blip r:embed="rId2"/>
          <a:stretch>
            <a:fillRect/>
          </a:stretch>
        </p:blipFill>
        <p:spPr>
          <a:xfrm>
            <a:off x="0" y="400957"/>
            <a:ext cx="12192000" cy="6056085"/>
          </a:xfrm>
          <a:prstGeom prst="rect">
            <a:avLst/>
          </a:prstGeom>
        </p:spPr>
      </p:pic>
    </p:spTree>
    <p:extLst>
      <p:ext uri="{BB962C8B-B14F-4D97-AF65-F5344CB8AC3E}">
        <p14:creationId xmlns:p14="http://schemas.microsoft.com/office/powerpoint/2010/main" val="3906013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E0FC54-C00D-53C5-1F91-1787EF707359}"/>
              </a:ext>
            </a:extLst>
          </p:cNvPr>
          <p:cNvPicPr>
            <a:picLocks noChangeAspect="1"/>
          </p:cNvPicPr>
          <p:nvPr/>
        </p:nvPicPr>
        <p:blipFill>
          <a:blip r:embed="rId2"/>
          <a:stretch>
            <a:fillRect/>
          </a:stretch>
        </p:blipFill>
        <p:spPr>
          <a:xfrm>
            <a:off x="0" y="400957"/>
            <a:ext cx="12192000" cy="6056085"/>
          </a:xfrm>
          <a:prstGeom prst="rect">
            <a:avLst/>
          </a:prstGeom>
        </p:spPr>
      </p:pic>
    </p:spTree>
    <p:extLst>
      <p:ext uri="{BB962C8B-B14F-4D97-AF65-F5344CB8AC3E}">
        <p14:creationId xmlns:p14="http://schemas.microsoft.com/office/powerpoint/2010/main" val="3025437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B24EA6-FD0C-9547-2697-2C9268A902A6}"/>
              </a:ext>
            </a:extLst>
          </p:cNvPr>
          <p:cNvPicPr>
            <a:picLocks noChangeAspect="1"/>
          </p:cNvPicPr>
          <p:nvPr/>
        </p:nvPicPr>
        <p:blipFill>
          <a:blip r:embed="rId2"/>
          <a:stretch>
            <a:fillRect/>
          </a:stretch>
        </p:blipFill>
        <p:spPr>
          <a:xfrm>
            <a:off x="0" y="391886"/>
            <a:ext cx="12192000" cy="6074228"/>
          </a:xfrm>
          <a:prstGeom prst="rect">
            <a:avLst/>
          </a:prstGeom>
        </p:spPr>
      </p:pic>
    </p:spTree>
    <p:extLst>
      <p:ext uri="{BB962C8B-B14F-4D97-AF65-F5344CB8AC3E}">
        <p14:creationId xmlns:p14="http://schemas.microsoft.com/office/powerpoint/2010/main" val="1163374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35AD76-D7D3-0CD4-E5C8-4C703040CC9F}"/>
              </a:ext>
            </a:extLst>
          </p:cNvPr>
          <p:cNvPicPr>
            <a:picLocks noChangeAspect="1"/>
          </p:cNvPicPr>
          <p:nvPr/>
        </p:nvPicPr>
        <p:blipFill>
          <a:blip r:embed="rId2"/>
          <a:stretch>
            <a:fillRect/>
          </a:stretch>
        </p:blipFill>
        <p:spPr>
          <a:xfrm>
            <a:off x="0" y="400957"/>
            <a:ext cx="12192000" cy="6056085"/>
          </a:xfrm>
          <a:prstGeom prst="rect">
            <a:avLst/>
          </a:prstGeom>
        </p:spPr>
      </p:pic>
    </p:spTree>
    <p:extLst>
      <p:ext uri="{BB962C8B-B14F-4D97-AF65-F5344CB8AC3E}">
        <p14:creationId xmlns:p14="http://schemas.microsoft.com/office/powerpoint/2010/main" val="2088300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EA18EF-953F-7532-CB42-5A7FBDCB2EC4}"/>
              </a:ext>
            </a:extLst>
          </p:cNvPr>
          <p:cNvPicPr>
            <a:picLocks noChangeAspect="1"/>
          </p:cNvPicPr>
          <p:nvPr/>
        </p:nvPicPr>
        <p:blipFill>
          <a:blip r:embed="rId2"/>
          <a:stretch>
            <a:fillRect/>
          </a:stretch>
        </p:blipFill>
        <p:spPr>
          <a:xfrm>
            <a:off x="1571624" y="8788"/>
            <a:ext cx="9060375" cy="6849212"/>
          </a:xfrm>
          <a:prstGeom prst="rect">
            <a:avLst/>
          </a:prstGeom>
        </p:spPr>
      </p:pic>
    </p:spTree>
    <p:extLst>
      <p:ext uri="{BB962C8B-B14F-4D97-AF65-F5344CB8AC3E}">
        <p14:creationId xmlns:p14="http://schemas.microsoft.com/office/powerpoint/2010/main" val="700016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A292EC-7D8B-3A39-2F55-42ED3786CDA1}"/>
              </a:ext>
            </a:extLst>
          </p:cNvPr>
          <p:cNvPicPr>
            <a:picLocks noChangeAspect="1"/>
          </p:cNvPicPr>
          <p:nvPr/>
        </p:nvPicPr>
        <p:blipFill>
          <a:blip r:embed="rId2"/>
          <a:stretch>
            <a:fillRect/>
          </a:stretch>
        </p:blipFill>
        <p:spPr>
          <a:xfrm>
            <a:off x="0" y="410029"/>
            <a:ext cx="12192000" cy="6037942"/>
          </a:xfrm>
          <a:prstGeom prst="rect">
            <a:avLst/>
          </a:prstGeom>
        </p:spPr>
      </p:pic>
    </p:spTree>
    <p:extLst>
      <p:ext uri="{BB962C8B-B14F-4D97-AF65-F5344CB8AC3E}">
        <p14:creationId xmlns:p14="http://schemas.microsoft.com/office/powerpoint/2010/main" val="38683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71"/>
          <p:cNvSpPr txBox="1">
            <a:spLocks noGrp="1"/>
          </p:cNvSpPr>
          <p:nvPr>
            <p:ph type="ctrTitle"/>
          </p:nvPr>
        </p:nvSpPr>
        <p:spPr>
          <a:xfrm>
            <a:off x="1523999" y="211014"/>
            <a:ext cx="10124050" cy="7596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F3864"/>
              </a:buClr>
              <a:buSzPts val="3200"/>
              <a:buFont typeface="Times New Roman"/>
              <a:buNone/>
            </a:pPr>
            <a:r>
              <a:rPr lang="en-US" sz="3200" b="1">
                <a:solidFill>
                  <a:srgbClr val="1F3864"/>
                </a:solidFill>
                <a:latin typeface="Times New Roman"/>
                <a:ea typeface="Times New Roman"/>
                <a:cs typeface="Times New Roman"/>
                <a:sym typeface="Times New Roman"/>
              </a:rPr>
              <a:t>BIBLIOGRAPHY</a:t>
            </a:r>
            <a:endParaRPr sz="3200" b="1">
              <a:solidFill>
                <a:srgbClr val="1F3864"/>
              </a:solidFill>
              <a:latin typeface="Times New Roman"/>
              <a:ea typeface="Times New Roman"/>
              <a:cs typeface="Times New Roman"/>
              <a:sym typeface="Times New Roman"/>
            </a:endParaRPr>
          </a:p>
        </p:txBody>
      </p:sp>
      <p:sp>
        <p:nvSpPr>
          <p:cNvPr id="442" name="Google Shape;442;p71"/>
          <p:cNvSpPr txBox="1">
            <a:spLocks noGrp="1"/>
          </p:cNvSpPr>
          <p:nvPr>
            <p:ph type="subTitle" idx="1"/>
          </p:nvPr>
        </p:nvSpPr>
        <p:spPr>
          <a:xfrm>
            <a:off x="1523999" y="1280160"/>
            <a:ext cx="10124050" cy="557784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0000"/>
              </a:buClr>
              <a:buSzPts val="2400"/>
              <a:buFont typeface="Noto Sans Symbols"/>
              <a:buChar char="❖"/>
            </a:pPr>
            <a:r>
              <a:rPr lang="en-US" b="1" i="0" u="none" strike="noStrike" cap="none">
                <a:solidFill>
                  <a:srgbClr val="000000"/>
                </a:solidFill>
                <a:latin typeface="Times New Roman"/>
                <a:ea typeface="Times New Roman"/>
                <a:cs typeface="Times New Roman"/>
                <a:sym typeface="Times New Roman"/>
              </a:rPr>
              <a:t>Search Engine : </a:t>
            </a:r>
            <a:r>
              <a:rPr lang="en-US" i="0" u="none" strike="noStrike" cap="none">
                <a:solidFill>
                  <a:srgbClr val="000000"/>
                </a:solidFill>
                <a:latin typeface="Times New Roman"/>
                <a:ea typeface="Times New Roman"/>
                <a:cs typeface="Times New Roman"/>
                <a:sym typeface="Times New Roman"/>
              </a:rPr>
              <a:t>Google</a:t>
            </a:r>
            <a:endParaRPr/>
          </a:p>
          <a:p>
            <a:pPr marL="228600" marR="0" lvl="0" indent="-228600" algn="l" rtl="0">
              <a:lnSpc>
                <a:spcPct val="90000"/>
              </a:lnSpc>
              <a:spcBef>
                <a:spcPts val="1000"/>
              </a:spcBef>
              <a:spcAft>
                <a:spcPts val="0"/>
              </a:spcAft>
              <a:buClr>
                <a:srgbClr val="000000"/>
              </a:buClr>
              <a:buSzPts val="2400"/>
              <a:buFont typeface="Noto Sans Symbols"/>
              <a:buChar char="❖"/>
            </a:pPr>
            <a:r>
              <a:rPr lang="en-US" b="1" i="0" u="none" strike="noStrike" cap="none">
                <a:solidFill>
                  <a:srgbClr val="000000"/>
                </a:solidFill>
                <a:latin typeface="Times New Roman"/>
                <a:ea typeface="Times New Roman"/>
                <a:cs typeface="Times New Roman"/>
                <a:sym typeface="Times New Roman"/>
              </a:rPr>
              <a:t>Online Resources:</a:t>
            </a:r>
            <a:endParaRPr/>
          </a:p>
          <a:p>
            <a:pPr marL="800100" marR="0" lvl="1" indent="-342900" algn="l" rtl="0">
              <a:lnSpc>
                <a:spcPct val="90000"/>
              </a:lnSpc>
              <a:spcBef>
                <a:spcPts val="5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http://www.mongodb.com</a:t>
            </a:r>
            <a:endParaRPr/>
          </a:p>
          <a:p>
            <a:pPr marL="800100" marR="0" lvl="1" indent="-342900" algn="l" rtl="0">
              <a:lnSpc>
                <a:spcPct val="90000"/>
              </a:lnSpc>
              <a:spcBef>
                <a:spcPts val="5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http://www.nodejs.org</a:t>
            </a:r>
            <a:endParaRPr/>
          </a:p>
          <a:p>
            <a:pPr marL="800100" marR="0" lvl="1" indent="-342900" algn="l" rtl="0">
              <a:lnSpc>
                <a:spcPct val="90000"/>
              </a:lnSpc>
              <a:spcBef>
                <a:spcPts val="5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http://www.expressjs.com</a:t>
            </a:r>
            <a:endParaRPr/>
          </a:p>
          <a:p>
            <a:pPr marL="800100" lvl="1" indent="-342900" algn="l" rtl="0">
              <a:lnSpc>
                <a:spcPct val="90000"/>
              </a:lnSpc>
              <a:spcBef>
                <a:spcPts val="5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http://www.react.dev</a:t>
            </a:r>
            <a:endParaRPr sz="2400" b="0" i="0" u="none" strike="noStrike" cap="none">
              <a:solidFill>
                <a:srgbClr val="000000"/>
              </a:solidFill>
              <a:latin typeface="Times New Roman"/>
              <a:ea typeface="Times New Roman"/>
              <a:cs typeface="Times New Roman"/>
              <a:sym typeface="Times New Roman"/>
            </a:endParaRPr>
          </a:p>
          <a:p>
            <a:pPr marL="800100" marR="0" lvl="1" indent="-190500" algn="l" rtl="0">
              <a:lnSpc>
                <a:spcPct val="90000"/>
              </a:lnSpc>
              <a:spcBef>
                <a:spcPts val="500"/>
              </a:spcBef>
              <a:spcAft>
                <a:spcPts val="0"/>
              </a:spcAft>
              <a:buClr>
                <a:schemeClr val="dk1"/>
              </a:buClr>
              <a:buSzPts val="2400"/>
              <a:buFont typeface="Noto Sans Symbols"/>
              <a:buNone/>
            </a:pPr>
            <a:endParaRPr sz="2400" b="1" i="0" u="none" strike="noStrike" cap="none">
              <a:solidFill>
                <a:srgbClr val="000000"/>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chemeClr val="dk1"/>
              </a:buClr>
              <a:buSzPts val="2400"/>
              <a:buNone/>
            </a:pPr>
            <a:endParaRPr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566</Words>
  <Application>Microsoft Office PowerPoint</Application>
  <PresentationFormat>Widescreen</PresentationFormat>
  <Paragraphs>67</Paragraphs>
  <Slides>25</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Noto Sans Symbols</vt:lpstr>
      <vt:lpstr>Times New Roman</vt:lpstr>
      <vt:lpstr>Wingdings</vt:lpstr>
      <vt:lpstr>Office Theme</vt:lpstr>
      <vt:lpstr>PowerPoint Presentation</vt:lpstr>
      <vt:lpstr>CAMPUS BALLOT</vt:lpstr>
      <vt:lpstr>INTRODUCTION</vt:lpstr>
      <vt:lpstr>PROJECT USERS AND FUNCTIONALITIES</vt:lpstr>
      <vt:lpstr>PROJECT USERS AND FUNCTIONALITIES</vt:lpstr>
      <vt:lpstr>PROJECT PROFILE</vt:lpstr>
      <vt:lpstr>DATA FLOW DIAGRAM</vt:lpstr>
      <vt:lpstr>0-LEVEL DFD</vt:lpstr>
      <vt:lpstr>PowerPoint Presentation</vt:lpstr>
      <vt:lpstr>ER DIAGRAM</vt:lpstr>
      <vt:lpstr>PowerPoint Presentation</vt:lpstr>
      <vt:lpstr>DATABASE DESIGN</vt:lpstr>
      <vt:lpstr>PowerPoint Presentation</vt:lpstr>
      <vt:lpstr>PowerPoint Presentation</vt:lpstr>
      <vt:lpstr>PowerPoint Presentation</vt:lpstr>
      <vt:lpstr>IMPLEMENTATION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Smriti Maurya</cp:lastModifiedBy>
  <cp:revision>4</cp:revision>
  <dcterms:modified xsi:type="dcterms:W3CDTF">2026-09-01T06:52:54Z</dcterms:modified>
</cp:coreProperties>
</file>